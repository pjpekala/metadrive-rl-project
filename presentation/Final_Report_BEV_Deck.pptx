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5078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Success</c:v>
                  </c:pt>
                  <c:pt idx="1">
                    <c:v>Collision</c:v>
                  </c:pt>
                  <c:pt idx="2">
                    <c:v>Out-of-road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22.5</c:v>
                </c:pt>
                <c:pt idx="1">
                  <c:v>51</c:v>
                </c:pt>
                <c:pt idx="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7620" cap="flat">
              <a:solidFill>
                <a:srgbClr val="E8EE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F3C7E"/>
            </a:solidFill>
            <a:ln w="35560" cap="flat">
              <a:solidFill>
                <a:srgbClr val="2F3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3C7E"/>
              </a:solidFill>
              <a:ln w="9525" cap="flat">
                <a:solidFill>
                  <a:srgbClr val="2F3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2.811M</c:v>
                  </c:pt>
                  <c:pt idx="1">
                    <c:v>3.011M</c:v>
                  </c:pt>
                  <c:pt idx="2">
                    <c:v>3.211M</c:v>
                  </c:pt>
                  <c:pt idx="3">
                    <c:v>3.411M</c:v>
                  </c:pt>
                  <c:pt idx="4">
                    <c:v>3.600M final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26.5</c:v>
                </c:pt>
                <c:pt idx="1">
                  <c:v>24.5</c:v>
                </c:pt>
                <c:pt idx="2">
                  <c:v>14.5</c:v>
                </c:pt>
                <c:pt idx="3">
                  <c:v>30.5</c:v>
                </c:pt>
                <c:pt idx="4">
                  <c:v>22.5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10"/>
        </c:scaling>
        <c:delete val="0"/>
        <c:axPos val="l"/>
        <c:majorGridlines>
          <c:spPr>
            <a:ln w="7620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3.411M</c:v>
                  </c:pt>
                  <c:pt idx="1">
                    <c:v>3.611M</c:v>
                  </c:pt>
                  <c:pt idx="2">
                    <c:v>3.811M</c:v>
                  </c:pt>
                  <c:pt idx="3">
                    <c:v>4.088M</c:v>
                  </c:pt>
                  <c:pt idx="4">
                    <c:v>4.200M final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18.5</c:v>
                </c:pt>
                <c:pt idx="2">
                  <c:v>25</c:v>
                </c:pt>
                <c:pt idx="3">
                  <c:v>21</c:v>
                </c:pt>
                <c:pt idx="4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10"/>
        </c:scaling>
        <c:delete val="0"/>
        <c:axPos val="l"/>
        <c:majorGridlines>
          <c:spPr>
            <a:ln w="7620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Success</c:v>
                  </c:pt>
                  <c:pt idx="1">
                    <c:v>Out-of-road</c:v>
                  </c:pt>
                  <c:pt idx="2">
                    <c:v>Collision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22.5</c:v>
                </c:pt>
                <c:pt idx="1">
                  <c:v>26</c:v>
                </c:pt>
                <c:pt idx="2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Success</c:v>
                  </c:pt>
                  <c:pt idx="1">
                    <c:v>Out-of-road</c:v>
                  </c:pt>
                  <c:pt idx="2">
                    <c:v>Collision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</c:v>
                </c:pt>
                <c:pt idx="1">
                  <c:v>18</c:v>
                </c:pt>
                <c:pt idx="2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762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 best</c:v>
                  </c:pt>
                  <c:pt idx="1">
                    <c:v>Sparse LiDAR</c:v>
                  </c:pt>
                  <c:pt idx="2">
                    <c:v>Dense LiDAR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73.5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7620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645920"/>
            <a:ext cx="5760720" cy="5760720"/>
          </a:xfrm>
          <a:prstGeom prst="ellipse">
            <a:avLst/>
          </a:prstGeom>
          <a:solidFill>
            <a:srgbClr val="2F3C7E">
              <a:alpha val="82000"/>
            </a:srgbClr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663440"/>
            <a:ext cx="4937760" cy="4937760"/>
          </a:xfrm>
          <a:prstGeom prst="ellipse">
            <a:avLst/>
          </a:prstGeom>
          <a:solidFill>
            <a:srgbClr val="6EA8FE">
              <a:alpha val="25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Planning and Control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- BEV Training and Evaluation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Kaivalya Jadhav and Paul Pekala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 in MetaDrive with multi-modal observations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93776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policies must balance perception richness and training stability.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models trained reliably; BEV required stronger systems controls.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goal: maximize BEV generalization on held-out maps.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Targets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2514600"/>
            <a:ext cx="452628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SAC agents across modalities in a shared protocol.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seeds 800-999 (200 unseen maps).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BEV under desktop memory/VRAM limits.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safety and completion trends over checkpoints.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algorithm, and evaluation split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972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EE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MetaDrive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5568" y="26791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road scenarios with controlled seed splits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F8FB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64808" y="26791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Actor-Critic (off-policy, entropy-regularized)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97764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EE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15568" y="4507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0-799 (800 maps)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F8FB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Split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64808" y="4507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800-999 (200 held-out maps)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BEV workflow was executed across sessions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20116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277063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5478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strongest prior ckpt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3227832"/>
            <a:ext cx="237744" cy="548640"/>
          </a:xfrm>
          <a:prstGeom prst="chevron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560320"/>
            <a:ext cx="2011680" cy="1874520"/>
          </a:xfrm>
          <a:prstGeom prst="roundRect">
            <a:avLst>
              <a:gd name="adj" fmla="val 3415"/>
            </a:avLst>
          </a:prstGeom>
          <a:solidFill>
            <a:srgbClr val="F2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77063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35478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safe resume config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227832"/>
            <a:ext cx="237744" cy="548640"/>
          </a:xfrm>
          <a:prstGeom prst="chevron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2560320"/>
            <a:ext cx="20116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277063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35478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staged continuation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3227832"/>
            <a:ext cx="237744" cy="548640"/>
          </a:xfrm>
          <a:prstGeom prst="chevron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560320"/>
            <a:ext cx="2011680" cy="1874520"/>
          </a:xfrm>
          <a:prstGeom prst="roundRect">
            <a:avLst>
              <a:gd name="adj" fmla="val 3415"/>
            </a:avLst>
          </a:prstGeom>
          <a:solidFill>
            <a:srgbClr val="F2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277063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8120" y="35478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held-out checkpoints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46920" y="3227832"/>
            <a:ext cx="237744" cy="548640"/>
          </a:xfrm>
          <a:prstGeom prst="chevron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1240" y="2560320"/>
            <a:ext cx="20116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25328" y="277063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564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04120" y="35478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best model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937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evaluation-first loop prevented selecting overtrained final checkpoints.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Modalities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benchmark with modality-specific policies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118872" cy="1737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LiDAR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80 beams, 50m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770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MLP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50292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874520"/>
            <a:ext cx="118872" cy="1737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LiDAR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240 beams, 100m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770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MLP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886200"/>
            <a:ext cx="50292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86200"/>
            <a:ext cx="118872" cy="17373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BEV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480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96x96 image + state (final run)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782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MultiInput (CNN+MLP)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0292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886200"/>
            <a:ext cx="118872" cy="17373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Camera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9400" y="4480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96x96 image + state (final run)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4782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MultiInput (CNN+MLP)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Desktop-Constrained BEV Setup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guardrails used to prevent crashes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 Ti (8 GB)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75888" y="201168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Budget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for image runs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83096" y="201168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Envs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(DummyVecEnv)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90304" y="201168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4896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Eval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54896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during training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10744200" cy="1417320"/>
          </a:xfrm>
          <a:prstGeom prst="roundRect">
            <a:avLst>
              <a:gd name="adj" fmla="val 3226"/>
            </a:avLst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43984"/>
            <a:ext cx="103327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stored image observations as uint8 for lower host RAM pressure.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path explicitly enforced safe hyperparameters on checkpoint load.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completed to 4.2M steps without crash-related data loss.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and Stage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Checkpoint-first continuation strategy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972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40280"/>
            <a:ext cx="10607040" cy="65836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2.600M checkpoint from trained_bev2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1e-4 (original)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099816"/>
            <a:ext cx="10607040" cy="65836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2.600M -&gt; 3.600M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5e-5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959352"/>
            <a:ext cx="10607040" cy="65836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123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3.412M -&gt; 4.200M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4123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3e-5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818888"/>
            <a:ext cx="10607040" cy="65836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4983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 held-out checkpoint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4983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final timestep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Held-out, deterministic, checkpoint sweep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440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892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episodes per key checkpoint.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evaluation (predict with deterministic=True).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seeds 800-999 only.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success, collision, out-of-road, reward.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success first, then reward/safety context.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029200" cy="406908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2514600"/>
            <a:ext cx="43891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evaluation_results.csv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stage1_eval_sweep_200.csv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stage2_eval_sweep_200.csv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training_log.csv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event logs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Baseline Before Continuation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benchmark from 2.600M checkpoint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0972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1005840" y="224028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95160" y="2286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checkpoint (200 eps)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95160" y="2615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models/trained_bev2/.../sac_metadrive_2600000_steps.zip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95160" y="3154680"/>
            <a:ext cx="41148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22.5%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51.0%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Out-of-road 26.0%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 226.46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605332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evaluation_results.csv (line with 2.6M checkpoint, 200 episodes)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Checkpoint Sweep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2.600M -&gt; 3.600M at LR 5e-5 (success in %)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2024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9202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56448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takeaway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83880" y="2560320"/>
            <a:ext cx="30175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appeared at 3.411M, not final.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3.6M checkpoint regressed to baseline-like success.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ranking was necessary before Stage 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0533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stage1_eval_sweep_200.csv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Metric 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200-episode checkpoint results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20240"/>
          <a:ext cx="10881360" cy="333756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Out-of-road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2.811M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246.18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3.011M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3.211M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3.411M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3.600M final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486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Stage 1 checkpoint selected for continuation: 3.411M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806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stage1_eval_sweep_200.csv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0" y="57881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collision and out-of-road are not mutually exclusive event flags.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Continuation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best Stage 1 checkpoint at lower LR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49377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6334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3.411M best checkpoint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49377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6334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4.200M timesteps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49377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4462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3e-5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3840480"/>
            <a:ext cx="49377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4462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completed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Sweep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peaked before the final checkpoint (success in %)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7040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874520"/>
            <a:ext cx="3246120" cy="374904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66760" y="2487168"/>
            <a:ext cx="26974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remained 3.411M.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training caused success degradation.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4.2M model should not be deployed as canonical BEV.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6053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stage2_eval_sweep_200.csv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BEV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checkpoint and achieved performance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5054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sac_metadrive_3411856_steps.zip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79806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(models/bev_best_from_2600k/bev/checkpoints)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566928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Timesteps: 3,411,856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episodes: 200 (held-out seeds)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at checkpoint: 5e-5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256, buffer 100000, train_freq 8, gradient_steps 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3749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0848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33.0%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89520" y="2880360"/>
            <a:ext cx="3749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3136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0" y="3931920"/>
            <a:ext cx="3749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1879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89520" y="4983480"/>
            <a:ext cx="3749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5239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244.05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vs 2.600M baseline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1920240"/>
          <a:ext cx="7589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41080" y="192024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69680" y="2560320"/>
            <a:ext cx="23317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+10.5 pts (+46.7% relative)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Out-of-road: -8.0 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Collision: -4.0 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+17.59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Cross-Modality Context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BEV vs LiDAR reference runs (success in %)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196596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12280" y="1965960"/>
            <a:ext cx="45720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86600" y="2651760"/>
            <a:ext cx="397764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improved strongly from early project runs.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rates: BEV 33.0%, Sparse LiDAR 73.5%, Dense LiDAR 83.0%.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remains stronger under current setup.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policies likely need more compute and stronger regularization.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60533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evaluation_results.csv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Reliability Outcomes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long runs reproducible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ECF7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21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15568" y="2606040"/>
            <a:ext cx="452628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Resume-safe checkpoint loading with enforced runtime hyperparameters.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Single-env image training with strict memory budget.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tmux/nohup workflow for multi-session continuity.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FFF2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21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discovered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6248" y="2606040"/>
            <a:ext cx="452628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checkpoint was not the best policy.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degraded in late-stage continuation.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sweeps were mandatory for robust selection.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and Reproducibility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generated and used for final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972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models/bev_best_from_2600k/bev/stage1_eval_sweep_200.csv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8072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models/bev_best_from_2600k/bev/stage2_eval_sweep_200.csv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6557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models/bev_best_from_2600k/bev/training_log.csv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1239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evaluation_results.csv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7823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models/bev_best_from_2600k/bev/checkpoints/sac_metadrive_3411856_steps.zip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4864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artifacts support all reported BEV metrics and checkpoint decisions.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gaps after BEV optimization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8992" y="2633472"/>
            <a:ext cx="47548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BEV success still trails LiDAR runs.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remains high for deployment-grade behavior.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between neighboring checkpoints.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E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experiments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73952" y="2633472"/>
            <a:ext cx="47548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checkpoint sweeps with automatic early-stop criteria.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focused on collision avoidance.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BEV encoders and regularization variants.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Cross-seed confidence intervals for final comparisons.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583 - MetaDrive RL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645920"/>
            <a:ext cx="5760720" cy="5760720"/>
          </a:xfrm>
          <a:prstGeom prst="ellipse">
            <a:avLst/>
          </a:prstGeom>
          <a:solidFill>
            <a:srgbClr val="2F3C7E">
              <a:alpha val="82000"/>
            </a:srgbClr>
          </a:solidFill>
          <a:ln w="12700">
            <a:solidFill>
              <a:srgbClr val="2F3C7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663440"/>
            <a:ext cx="4937760" cy="4937760"/>
          </a:xfrm>
          <a:prstGeom prst="ellipse">
            <a:avLst/>
          </a:prstGeom>
          <a:solidFill>
            <a:srgbClr val="6EA8FE">
              <a:alpha val="25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Evaluation-driven checkpoint selection delivered the strongest BEV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performance improved from 22.5% to 33.0% success on held-out maps.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occurred at 3.411M steps, not at final 4.2M training endpoint.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System-aware training controls and rigorous sweeps were critical for reliable results.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58064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CIS 583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Vehicle Planning and Control - Final Report</dc:title>
  <dc:subject>Final project report - MetaDrive BEV experiments</dc:subject>
  <dc:creator>Kaivalya Jadhav, Paul Pekala</dc:creator>
  <cp:lastModifiedBy>Kaivalya Jadhav, Paul Pekala</cp:lastModifiedBy>
  <cp:revision>1</cp:revision>
  <dcterms:created xsi:type="dcterms:W3CDTF">2026-04-16T23:54:44Z</dcterms:created>
  <dcterms:modified xsi:type="dcterms:W3CDTF">2026-04-16T23:54:44Z</dcterms:modified>
</cp:coreProperties>
</file>